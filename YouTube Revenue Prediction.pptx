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58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144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57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099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32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62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548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0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51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45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2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0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543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YouTube Ad Revenue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Content Monetization Modeler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ad revenue using video metrics</a:t>
            </a:r>
          </a:p>
          <a:p>
            <a:r>
              <a:t>Identify key monetization drivers</a:t>
            </a:r>
          </a:p>
          <a:p>
            <a:r>
              <a:t>Build &amp; deploy ML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120K+ records</a:t>
            </a:r>
          </a:p>
          <a:p>
            <a:r>
              <a:rPr dirty="0"/>
              <a:t>Features: views, likes, comments, watch time</a:t>
            </a:r>
            <a:r>
              <a:rPr lang="en-IN" dirty="0"/>
              <a:t>, video length minutes, subscribers, ad revenue </a:t>
            </a:r>
            <a:r>
              <a:rPr lang="en-IN" dirty="0" err="1"/>
              <a:t>usd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Retention = watch_time / (views × video_length)</a:t>
            </a:r>
          </a:p>
          <a:p>
            <a:r>
              <a:t>Engagement = (likes + comments) / views</a:t>
            </a:r>
          </a:p>
          <a:p>
            <a:r>
              <a:t>Log transformation for subscribers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Watch time strongest predictor (0.96)</a:t>
            </a:r>
          </a:p>
          <a:p>
            <a:r>
              <a:rPr dirty="0"/>
              <a:t>Engagement &amp; retention moderate</a:t>
            </a:r>
            <a:endParaRPr lang="en-IN" dirty="0"/>
          </a:p>
          <a:p>
            <a:endParaRPr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56ED99F-207B-D282-DB5B-87E021A284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473833"/>
              </p:ext>
            </p:extLst>
          </p:nvPr>
        </p:nvGraphicFramePr>
        <p:xfrm>
          <a:off x="1097280" y="3035967"/>
          <a:ext cx="10058400" cy="257825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452138507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404391669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4227800245"/>
                    </a:ext>
                  </a:extLst>
                </a:gridCol>
              </a:tblGrid>
              <a:tr h="3683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Feature</a:t>
                      </a:r>
                    </a:p>
                  </a:txBody>
                  <a:tcPr marL="41048" marR="41048" marT="20524" marB="20524" anchor="ctr">
                    <a:solidFill>
                      <a:srgbClr val="BD58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Correlation</a:t>
                      </a:r>
                    </a:p>
                  </a:txBody>
                  <a:tcPr marL="41048" marR="41048" marT="20524" marB="20524" anchor="ctr">
                    <a:solidFill>
                      <a:srgbClr val="BD58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Role</a:t>
                      </a:r>
                    </a:p>
                  </a:txBody>
                  <a:tcPr marL="41048" marR="41048" marT="20524" marB="20524" anchor="ctr">
                    <a:solidFill>
                      <a:srgbClr val="BD58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837374"/>
                  </a:ext>
                </a:extLst>
              </a:tr>
              <a:tr h="3683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 err="1"/>
                        <a:t>watch_time_minutes</a:t>
                      </a:r>
                      <a:endParaRPr lang="en-IN" sz="1600" dirty="0"/>
                    </a:p>
                  </a:txBody>
                  <a:tcPr marL="41048" marR="41048" marT="20524" marB="2052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0.96</a:t>
                      </a:r>
                    </a:p>
                  </a:txBody>
                  <a:tcPr marL="41048" marR="41048" marT="20524" marB="2052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Primary driver</a:t>
                      </a:r>
                    </a:p>
                  </a:txBody>
                  <a:tcPr marL="41048" marR="41048" marT="20524" marB="20524" anchor="ctr"/>
                </a:tc>
                <a:extLst>
                  <a:ext uri="{0D108BD9-81ED-4DB2-BD59-A6C34878D82A}">
                    <a16:rowId xmlns:a16="http://schemas.microsoft.com/office/drawing/2014/main" val="348784666"/>
                  </a:ext>
                </a:extLst>
              </a:tr>
              <a:tr h="3683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retention_rate</a:t>
                      </a:r>
                    </a:p>
                  </a:txBody>
                  <a:tcPr marL="41048" marR="41048" marT="20524" marB="2052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0.33</a:t>
                      </a:r>
                    </a:p>
                  </a:txBody>
                  <a:tcPr marL="41048" marR="41048" marT="20524" marB="2052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Quality metric</a:t>
                      </a:r>
                    </a:p>
                  </a:txBody>
                  <a:tcPr marL="41048" marR="41048" marT="20524" marB="20524" anchor="ctr"/>
                </a:tc>
                <a:extLst>
                  <a:ext uri="{0D108BD9-81ED-4DB2-BD59-A6C34878D82A}">
                    <a16:rowId xmlns:a16="http://schemas.microsoft.com/office/drawing/2014/main" val="3317042171"/>
                  </a:ext>
                </a:extLst>
              </a:tr>
              <a:tr h="3683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 err="1"/>
                        <a:t>engagement_rate</a:t>
                      </a:r>
                      <a:endParaRPr lang="en-IN" sz="1600" dirty="0"/>
                    </a:p>
                  </a:txBody>
                  <a:tcPr marL="41048" marR="41048" marT="20524" marB="2052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0.15</a:t>
                      </a:r>
                    </a:p>
                  </a:txBody>
                  <a:tcPr marL="41048" marR="41048" marT="20524" marB="2052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Interaction metric</a:t>
                      </a:r>
                    </a:p>
                  </a:txBody>
                  <a:tcPr marL="41048" marR="41048" marT="20524" marB="20524" anchor="ctr"/>
                </a:tc>
                <a:extLst>
                  <a:ext uri="{0D108BD9-81ED-4DB2-BD59-A6C34878D82A}">
                    <a16:rowId xmlns:a16="http://schemas.microsoft.com/office/drawing/2014/main" val="3662380225"/>
                  </a:ext>
                </a:extLst>
              </a:tr>
              <a:tr h="3683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likes</a:t>
                      </a:r>
                    </a:p>
                  </a:txBody>
                  <a:tcPr marL="41048" marR="41048" marT="20524" marB="2052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0.14</a:t>
                      </a:r>
                    </a:p>
                  </a:txBody>
                  <a:tcPr marL="41048" marR="41048" marT="20524" marB="2052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Supporting</a:t>
                      </a:r>
                    </a:p>
                  </a:txBody>
                  <a:tcPr marL="41048" marR="41048" marT="20524" marB="20524" anchor="ctr"/>
                </a:tc>
                <a:extLst>
                  <a:ext uri="{0D108BD9-81ED-4DB2-BD59-A6C34878D82A}">
                    <a16:rowId xmlns:a16="http://schemas.microsoft.com/office/drawing/2014/main" val="213242190"/>
                  </a:ext>
                </a:extLst>
              </a:tr>
              <a:tr h="3683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comments</a:t>
                      </a:r>
                    </a:p>
                  </a:txBody>
                  <a:tcPr marL="41048" marR="41048" marT="20524" marB="2052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0.03</a:t>
                      </a:r>
                    </a:p>
                  </a:txBody>
                  <a:tcPr marL="41048" marR="41048" marT="20524" marB="2052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Supporting</a:t>
                      </a:r>
                    </a:p>
                  </a:txBody>
                  <a:tcPr marL="41048" marR="41048" marT="20524" marB="20524" anchor="ctr"/>
                </a:tc>
                <a:extLst>
                  <a:ext uri="{0D108BD9-81ED-4DB2-BD59-A6C34878D82A}">
                    <a16:rowId xmlns:a16="http://schemas.microsoft.com/office/drawing/2014/main" val="3743182917"/>
                  </a:ext>
                </a:extLst>
              </a:tr>
              <a:tr h="3683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views</a:t>
                      </a:r>
                    </a:p>
                  </a:txBody>
                  <a:tcPr marL="41048" marR="41048" marT="20524" marB="2052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0.04</a:t>
                      </a:r>
                    </a:p>
                  </a:txBody>
                  <a:tcPr marL="41048" marR="41048" marT="20524" marB="2052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Base metric</a:t>
                      </a:r>
                    </a:p>
                  </a:txBody>
                  <a:tcPr marL="41048" marR="41048" marT="20524" marB="20524" anchor="ctr"/>
                </a:tc>
                <a:extLst>
                  <a:ext uri="{0D108BD9-81ED-4DB2-BD59-A6C34878D82A}">
                    <a16:rowId xmlns:a16="http://schemas.microsoft.com/office/drawing/2014/main" val="10159270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Heatmap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367579-A660-5F67-35B4-53C3752C8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2092735"/>
            <a:ext cx="1007745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Watch Time vs Revenue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827965-8F06-3D17-C9CA-E678CF2C8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91326"/>
            <a:ext cx="5438775" cy="4333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vs Revenue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2D15FD-D82A-6324-E3C6-ED1447C6B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85796"/>
            <a:ext cx="5257800" cy="41433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Retention vs Revenue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962D3A-02CB-5621-8A02-F2EC5B538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98086"/>
            <a:ext cx="5257800" cy="4143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953B72-C1F9-13C3-B6AE-2D77099E72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970862"/>
              </p:ext>
            </p:extLst>
          </p:nvPr>
        </p:nvGraphicFramePr>
        <p:xfrm>
          <a:off x="1097280" y="1993747"/>
          <a:ext cx="10058400" cy="34480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54641928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26330079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57248479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30102095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008687288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758738241"/>
                    </a:ext>
                  </a:extLst>
                </a:gridCol>
              </a:tblGrid>
              <a:tr h="574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Model</a:t>
                      </a:r>
                    </a:p>
                  </a:txBody>
                  <a:tcPr marL="82096" marR="82096" marT="41048" marB="41048" anchor="ctr">
                    <a:solidFill>
                      <a:srgbClr val="BD5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Train R²</a:t>
                      </a:r>
                    </a:p>
                  </a:txBody>
                  <a:tcPr marL="82096" marR="82096" marT="41048" marB="41048" anchor="ctr">
                    <a:solidFill>
                      <a:srgbClr val="BD5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Test R²</a:t>
                      </a:r>
                    </a:p>
                  </a:txBody>
                  <a:tcPr marL="82096" marR="82096" marT="41048" marB="41048" anchor="ctr">
                    <a:solidFill>
                      <a:srgbClr val="BD5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MAE</a:t>
                      </a:r>
                    </a:p>
                  </a:txBody>
                  <a:tcPr marL="82096" marR="82096" marT="41048" marB="41048" anchor="ctr">
                    <a:solidFill>
                      <a:srgbClr val="BD5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RMSE</a:t>
                      </a:r>
                    </a:p>
                  </a:txBody>
                  <a:tcPr marL="82096" marR="82096" marT="41048" marB="41048" anchor="ctr">
                    <a:solidFill>
                      <a:srgbClr val="BD5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Remarks</a:t>
                      </a:r>
                    </a:p>
                  </a:txBody>
                  <a:tcPr marL="82096" marR="82096" marT="41048" marB="41048" anchor="ctr">
                    <a:solidFill>
                      <a:srgbClr val="BD58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011900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Linear Regression</a:t>
                      </a:r>
                    </a:p>
                  </a:txBody>
                  <a:tcPr marL="82096" marR="82096" marT="41048" marB="41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0.9497</a:t>
                      </a:r>
                    </a:p>
                  </a:txBody>
                  <a:tcPr marL="82096" marR="82096" marT="41048" marB="41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0.95248</a:t>
                      </a:r>
                    </a:p>
                  </a:txBody>
                  <a:tcPr marL="82096" marR="82096" marT="41048" marB="41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3.097</a:t>
                      </a:r>
                    </a:p>
                  </a:txBody>
                  <a:tcPr marL="82096" marR="82096" marT="41048" marB="41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13.49</a:t>
                      </a:r>
                    </a:p>
                  </a:txBody>
                  <a:tcPr marL="82096" marR="82096" marT="41048" marB="41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marL="82096" marR="82096" marT="41048" marB="41048" anchor="ctr"/>
                </a:tc>
                <a:extLst>
                  <a:ext uri="{0D108BD9-81ED-4DB2-BD59-A6C34878D82A}">
                    <a16:rowId xmlns:a16="http://schemas.microsoft.com/office/drawing/2014/main" val="2896879904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Ridge Regression</a:t>
                      </a:r>
                    </a:p>
                  </a:txBody>
                  <a:tcPr marL="82096" marR="82096" marT="41048" marB="41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0.9497</a:t>
                      </a:r>
                    </a:p>
                  </a:txBody>
                  <a:tcPr marL="82096" marR="82096" marT="41048" marB="41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0.95248</a:t>
                      </a:r>
                    </a:p>
                  </a:txBody>
                  <a:tcPr marL="82096" marR="82096" marT="41048" marB="41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3.094</a:t>
                      </a:r>
                    </a:p>
                  </a:txBody>
                  <a:tcPr marL="82096" marR="82096" marT="41048" marB="41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13.49</a:t>
                      </a:r>
                    </a:p>
                  </a:txBody>
                  <a:tcPr marL="82096" marR="82096" marT="41048" marB="41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marL="82096" marR="82096" marT="41048" marB="41048" anchor="ctr"/>
                </a:tc>
                <a:extLst>
                  <a:ext uri="{0D108BD9-81ED-4DB2-BD59-A6C34878D82A}">
                    <a16:rowId xmlns:a16="http://schemas.microsoft.com/office/drawing/2014/main" val="1444145106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/>
                        <a:t>Lasso Regression</a:t>
                      </a:r>
                    </a:p>
                  </a:txBody>
                  <a:tcPr marL="82096" marR="82096" marT="41048" marB="41048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/>
                        <a:t>0.9497</a:t>
                      </a:r>
                    </a:p>
                  </a:txBody>
                  <a:tcPr marL="82096" marR="82096" marT="41048" marB="41048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/>
                        <a:t>0.95248</a:t>
                      </a:r>
                    </a:p>
                  </a:txBody>
                  <a:tcPr marL="82096" marR="82096" marT="41048" marB="41048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3.082</a:t>
                      </a:r>
                    </a:p>
                  </a:txBody>
                  <a:tcPr marL="82096" marR="82096" marT="41048" marB="41048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/>
                        <a:t>13.49</a:t>
                      </a:r>
                    </a:p>
                  </a:txBody>
                  <a:tcPr marL="82096" marR="82096" marT="41048" marB="41048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/>
                        <a:t>Selected Model</a:t>
                      </a:r>
                    </a:p>
                  </a:txBody>
                  <a:tcPr marL="82096" marR="82096" marT="41048" marB="41048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317482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Decision Tree</a:t>
                      </a:r>
                    </a:p>
                  </a:txBody>
                  <a:tcPr marL="82096" marR="82096" marT="41048" marB="41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1.00</a:t>
                      </a:r>
                    </a:p>
                  </a:txBody>
                  <a:tcPr marL="82096" marR="82096" marT="41048" marB="41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0.898</a:t>
                      </a:r>
                    </a:p>
                  </a:txBody>
                  <a:tcPr marL="82096" marR="82096" marT="41048" marB="41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5.72</a:t>
                      </a:r>
                    </a:p>
                  </a:txBody>
                  <a:tcPr marL="82096" marR="82096" marT="41048" marB="41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19.76</a:t>
                      </a:r>
                    </a:p>
                  </a:txBody>
                  <a:tcPr marL="82096" marR="82096" marT="41048" marB="41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marL="82096" marR="82096" marT="41048" marB="41048" anchor="ctr"/>
                </a:tc>
                <a:extLst>
                  <a:ext uri="{0D108BD9-81ED-4DB2-BD59-A6C34878D82A}">
                    <a16:rowId xmlns:a16="http://schemas.microsoft.com/office/drawing/2014/main" val="2639690853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Random Forest</a:t>
                      </a:r>
                    </a:p>
                  </a:txBody>
                  <a:tcPr marL="82096" marR="82096" marT="41048" marB="41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0.968</a:t>
                      </a:r>
                    </a:p>
                  </a:txBody>
                  <a:tcPr marL="82096" marR="82096" marT="41048" marB="41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0.951</a:t>
                      </a:r>
                    </a:p>
                  </a:txBody>
                  <a:tcPr marL="82096" marR="82096" marT="41048" marB="41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3.62</a:t>
                      </a:r>
                    </a:p>
                  </a:txBody>
                  <a:tcPr marL="82096" marR="82096" marT="41048" marB="41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13.66</a:t>
                      </a:r>
                    </a:p>
                  </a:txBody>
                  <a:tcPr marL="82096" marR="82096" marT="41048" marB="410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marL="82096" marR="82096" marT="41048" marB="41048" anchor="ctr"/>
                </a:tc>
                <a:extLst>
                  <a:ext uri="{0D108BD9-81ED-4DB2-BD59-A6C34878D82A}">
                    <a16:rowId xmlns:a16="http://schemas.microsoft.com/office/drawing/2014/main" val="42947592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Lasso?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Lowest MAE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dirty="0"/>
              <a:t>Simple &amp; fast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Streamlit</a:t>
            </a:r>
            <a:r>
              <a:rPr dirty="0"/>
              <a:t> app</a:t>
            </a:r>
          </a:p>
          <a:p>
            <a:r>
              <a:rPr dirty="0"/>
              <a:t>User inputs → prediction</a:t>
            </a:r>
          </a:p>
          <a:p>
            <a:r>
              <a:rPr lang="en-IN" dirty="0"/>
              <a:t>R</a:t>
            </a:r>
            <a:r>
              <a:rPr dirty="0" err="1"/>
              <a:t>eal</a:t>
            </a:r>
            <a:r>
              <a:rPr dirty="0"/>
              <a:t>-time results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Watch time drives revenue</a:t>
            </a:r>
          </a:p>
          <a:p>
            <a:r>
              <a:rPr dirty="0"/>
              <a:t>Simple models outperform complex 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</TotalTime>
  <Words>206</Words>
  <Application>Microsoft Office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Calibri</vt:lpstr>
      <vt:lpstr>Calibri Light</vt:lpstr>
      <vt:lpstr>Retrospect</vt:lpstr>
      <vt:lpstr>YouTube Ad Revenue Prediction</vt:lpstr>
      <vt:lpstr>Problem Statement</vt:lpstr>
      <vt:lpstr>Dataset Overview</vt:lpstr>
      <vt:lpstr>Feature Engineering</vt:lpstr>
      <vt:lpstr>EDA Insights</vt:lpstr>
      <vt:lpstr>Correlation Heatmap</vt:lpstr>
      <vt:lpstr>Watch Time vs Revenue</vt:lpstr>
      <vt:lpstr>Engagement vs Revenue</vt:lpstr>
      <vt:lpstr>Retention vs Revenue</vt:lpstr>
      <vt:lpstr>Model Comparison</vt:lpstr>
      <vt:lpstr>Why Lasso?</vt:lpstr>
      <vt:lpstr>Deployment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Gopinath S</dc:creator>
  <cp:keywords/>
  <dc:description>generated using python-pptx</dc:description>
  <cp:lastModifiedBy>Gopinath S</cp:lastModifiedBy>
  <cp:revision>2</cp:revision>
  <dcterms:created xsi:type="dcterms:W3CDTF">2013-01-27T09:14:16Z</dcterms:created>
  <dcterms:modified xsi:type="dcterms:W3CDTF">2026-04-24T16:28:37Z</dcterms:modified>
  <cp:category/>
</cp:coreProperties>
</file>